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IntelliSTOR to Papyrus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DEFB"/>
                </a:solidFill>
                <a:latin typeface="Calibri Light"/>
              </a:defRPr>
            </a:pPr>
            <a:r>
              <a:t>Migration Tools, Approach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AF9"/>
                </a:solidFill>
                <a:latin typeface="Calibri"/>
              </a:defRPr>
            </a:pPr>
            <a:r>
              <a:t>OCBC Bank  •  Document Archive Migration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A0"/>
                </a:solidFill>
                <a:latin typeface="Calibri"/>
              </a:defRPr>
            </a:pPr>
            <a:r>
              <a:t>Decoupled Development Approach  |  Python Migration 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A0"/>
                </a:solidFill>
                <a:latin typeface="Calibri"/>
              </a:defRPr>
            </a:pPr>
            <a:r>
              <a:t>February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384048" cy="384048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Guiding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Reuse, Decoupling &amp; Decryption Strategy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47087"/>
            <a:ext cx="384048" cy="384048"/>
          </a:xfrm>
          <a:prstGeom prst="ellipse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Environment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4708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MS SQL Server, Sample Files &amp; Decoupled Development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68295"/>
            <a:ext cx="384048" cy="384048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22575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Migration Phases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6829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Users, LDAP, Report Species &amp; Folders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889504"/>
            <a:ext cx="384048" cy="38404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4378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Migration 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8950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Instance Extraction — The Core Challenge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410711"/>
            <a:ext cx="384048" cy="384048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64991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RPT File Deep 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1071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Structure, Section Segregation &amp; Binary Extraction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931919"/>
            <a:ext cx="384048" cy="384048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861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Tools Developed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319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IRPT Viewer, RPT Page Extractor, RPT File Builder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453128"/>
            <a:ext cx="384048" cy="384048"/>
          </a:xfrm>
          <a:prstGeom prst="ellipse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074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Migration Phases 5-7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4531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Test Generation, ZIP Encrypt &amp; AFP Resources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974336"/>
            <a:ext cx="384048" cy="38404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286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MAP File Investigation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743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Index Structure &amp; Remaining Work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495543"/>
            <a:ext cx="384048" cy="384048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4982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End-to-End Flow Diagrams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495543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Setup, Archive Export/Import &amp; Ingestion Flow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6016752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971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Decisions &amp; 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60167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RPT vs ZIP, AirGap Deployment &amp; Ingestion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Guiding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5603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Reuse If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Leverage existing IntelliSTOR data structures</a:t>
            </a:r>
            <a:br/>
            <a:r>
              <a:t>and file formats wherever feasible.</a:t>
            </a:r>
            <a:br/>
            <a:r>
              <a:t>Avoid unnecessary transformations.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560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Decoupled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Work independently from the OCBC</a:t>
            </a:r>
            <a:br/>
            <a:r>
              <a:t>production environment. Install MS SQL</a:t>
            </a:r>
            <a:br/>
            <a:r>
              <a:t>Server locally, restore UAT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25603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Decryption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Initially told RPT files were encrypted.</a:t>
            </a:r>
            <a:br/>
            <a:r>
              <a:t>Discovered they are NOT encrypted.</a:t>
            </a:r>
            <a:br/>
            <a:r>
              <a:t>Direct access to content possible.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11247120" cy="201168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Key Discovery: RPT Files Are NOT Encrypted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During scoping, OCBC showed decryption of TXT spool files — we initially missed PDF and AFP binaries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Found the /B parameter that also extracts binary objects (PDF, AFP) from IntelliSTOR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Breakthrough: .RPT files use zlib compression, NOT encryption — full content is directly readable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This opens two strategies: (A) Work directly with RPT file format, or (B) Use ZIP encrypted archives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Decoupled Environment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Calibri"/>
              </a:defRPr>
            </a:pPr>
            <a:r>
              <a:t>Local Development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Installed MS SQL Server locally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Restored IntelliSTOR UAT database backup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Collected sample spool files (.TXT format)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Collected sample .RPT files (binary report archives)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Collected sample .MAP files (binary index files)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Set up Python 3.x virtual environment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Centralized configuration (Migration_Environment.bat/.sh)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Multi-platform support: Windows (.bat), macOS (.command), Linux (.sh)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846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33"/>
                </a:solidFill>
                <a:latin typeface="Calibri"/>
              </a:defRPr>
            </a:pPr>
            <a:r>
              <a:t>Benefits of Decoupled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No dependency on OCBC production/UAT systems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Rapid iteration and testing cycles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Full database schema exploration (DB_SCHEMA.csv)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Interactive DB Explorer tool (HTML-based)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Scripts work on SG and MY environments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Resume capability on all batch operations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AirGap deployment package for OCBC servers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Centralized config — update once, applies to all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Migration Phases 1 – 3: Setup Data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657600" cy="4937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1: Users &amp;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Extract user accounts (SCM_USERS)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Extract user groups (SCM_GROUPS)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Decode binary Windows ACLs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Export folder permissions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Export report species permissions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Export section-level permissions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Generate: Users.csv, UserGroups.csv,</a:t>
            </a:r>
            <a:br/>
            <a:r>
              <a:t>  SecurityDomains.csv, Sections.csv,</a:t>
            </a:r>
            <a:br/>
            <a:r>
              <a:t>  STYPE_FOLDER_ACCESS.csv,</a:t>
            </a:r>
            <a:br/>
            <a:r>
              <a:t>  STYPE_REPORT_SPECIES_ACCESS.csv,</a:t>
            </a:r>
            <a:br/>
            <a:r>
              <a:t>  STYPE_SECTION_ACCESS.csv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3474720"/>
            <a:ext cx="320040" cy="27432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280160"/>
            <a:ext cx="3200400" cy="4937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280160"/>
            <a:ext cx="3200400" cy="5029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2: LDAP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659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Create 5,000 test users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Import groups to Active Directory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Import users with group membership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LDAPS/SSL certificate support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Dry-run validation mode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HTML-based LDAP Browser tool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Multiple password strategies</a:t>
            </a:r>
            <a:br/>
            <a:r>
              <a:t>  (default, random, skip)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PowerShell: Check-LDAPS.ps1,</a:t>
            </a:r>
            <a:br/>
            <a:r>
              <a:t>  Fix-LDAPS.ps1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5279" y="3474720"/>
            <a:ext cx="320040" cy="27432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280160"/>
            <a:ext cx="3383280" cy="49377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338328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3: Report Species &amp; Folders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Extract folder hierarchy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Orphan folder detection &amp; exclusion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Extract folder-to-report mappings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Unique report species (30,000+)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Country code auto-detection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Support for SG and MY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Generate: Folder_Hierarchy.csv,</a:t>
            </a:r>
            <a:br/>
            <a:r>
              <a:t>  Folder_Report.csv,</a:t>
            </a:r>
            <a:br/>
            <a:r>
              <a:t>  Report_Species.csv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Warehouse manager folder structure</a:t>
            </a:r>
            <a:br/>
            <a:r>
              <a:t>  fully reconstructed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Phase 4: Instance Extraction — The Core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7432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Extract_Instances.py — Per Report Species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Year-based filtering (--start-year / --end-year)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Batch processing with resume capability (crash-safe progress JSON)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Output: one CSV per report species with 8 columns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Segment info: SEGMENT_NAME#SEG_NO#PAGE_STREAM#START_PAGE#NUM_PAGES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MAP file fallback for missing segment names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Timezone conversion (AS_OF_TIMESTAMP)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486400" cy="27432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The Section Segregation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Section segregation controls which users see which pages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This information was NOT in the database tables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Several days of investigation to locate it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Discovery: section segregation is encoded in the .RPT files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RPT SECTIONHDR contains section IDs, branch IDs, page counts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Two-phase lookup: permission check → page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51960"/>
            <a:ext cx="11430000" cy="2011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Paginator Job ID &amp; Segments — Auditing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IntelliSTOR uses Paginator Job IDs to track multiple</a:t>
            </a:r>
            <a:br/>
            <a:r>
              <a:t>  ingestions of the same report on the same day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Multiple ingestions are concatenated as Segments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Stored in REPORT_INSTANCE_SEGMENT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00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Each segment has: NAME, NUMBER, PAGE_STREAM_INSTANCE,</a:t>
            </a:r>
            <a:br/>
            <a:r>
              <a:t>  START_PAGE, NUMBER_OF_PAGES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Primarily used for auditing purposes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Decision needed: do we migrate segment tracking to Papyrus?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IntelliSTOR .RPT File — Binary Structure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828800" cy="4572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98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RPTFILEHDR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83080"/>
            <a:ext cx="182880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828800"/>
            <a:ext cx="1682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 Header</a:t>
            </a:r>
            <a:br/>
            <a:r>
              <a:t>Domain ID, Species ID,</a:t>
            </a:r>
            <a:br/>
            <a:r>
              <a:t>Report Info, Instance count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12264" y="2286000"/>
            <a:ext cx="118872" cy="16459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1280160"/>
            <a:ext cx="1828800" cy="45720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298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RPTINSTHDR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783080"/>
            <a:ext cx="182880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828800"/>
            <a:ext cx="1682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Instance Header</a:t>
            </a:r>
            <a:br/>
            <a:r>
              <a:t>Timestamp, page count,</a:t>
            </a:r>
            <a:br/>
            <a:r>
              <a:t>Section &amp; page table offsets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78224" y="2286000"/>
            <a:ext cx="118872" cy="16459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182880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298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SECTIONHDR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783080"/>
            <a:ext cx="182880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828800"/>
            <a:ext cx="1682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Section Table</a:t>
            </a:r>
            <a:br/>
            <a:r>
              <a:t>Section IDs, Branch IDs,</a:t>
            </a:r>
            <a:br/>
            <a:r>
              <a:t>Page counts per section</a:t>
            </a:r>
            <a:br/>
            <a:r>
              <a:t>→ SEGREGATION INFO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44184" y="2286000"/>
            <a:ext cx="118872" cy="16459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199" y="1280160"/>
            <a:ext cx="1828800" cy="4572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1298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PAGETBLHDR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1783080"/>
            <a:ext cx="182880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1" y="1828800"/>
            <a:ext cx="1682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Page Table</a:t>
            </a:r>
            <a:br/>
            <a:r>
              <a:t>Page offsets, compressed sizes,</a:t>
            </a:r>
            <a:br/>
            <a:r>
              <a:t>Pointers to zlib pages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10143" y="2286000"/>
            <a:ext cx="118872" cy="16459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280160"/>
            <a:ext cx="182880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298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BPAGETBLHDR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783080"/>
            <a:ext cx="182880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828800"/>
            <a:ext cx="1682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Binary Object Table</a:t>
            </a:r>
            <a:br/>
            <a:r>
              <a:t>PDF / AFP embedded objects,</a:t>
            </a:r>
            <a:br/>
            <a:r>
              <a:t>Multi-chunk compressed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976104" y="2286000"/>
            <a:ext cx="118872" cy="16459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04120" y="1280160"/>
            <a:ext cx="18288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298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Compressed Pages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1783080"/>
            <a:ext cx="182880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77272" y="1828800"/>
            <a:ext cx="1682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zlib compressed pages</a:t>
            </a:r>
            <a:br/>
            <a:r>
              <a:t>TXT spool file content</a:t>
            </a:r>
            <a:br/>
            <a:r>
              <a:t>(80-255 column widths)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657600"/>
            <a:ext cx="11430000" cy="25603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D62"/>
                </a:solidFill>
                <a:latin typeface="Calibri"/>
              </a:defRPr>
            </a:pPr>
            <a:r>
              <a:t>What the RPT File Gives 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Section Segregation: SECTIONHDR maps sections to pages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TXT Content: Decompressed zlib pages give full spool text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PDF Binaries: BPAGETBLHDR contains embedded PDF documents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AFP Binaries: Similarly embedded AFP objects with metadata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Page Indexing: Exact page offsets and sizes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Multi-section reports fully decomposable per section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Per-page zlib compression — lazy decompression possible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Binary type detection via magic bytes (%PDF, 0x5A for AFP)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Object Header page contains metadata for each binary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No encryption — full direct read access confirmed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Tools Developed for RPT File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657600" cy="4937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IRPT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HTML-based RPT file viewer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Parses binary .RPT format in browser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Section navigation (142,744 names)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Lazy page decompression (zlib)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PDF/AFP binary object display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PDF export with watermarking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Light &amp; dark themes, zoom 50-200%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AirGap version: self-contained</a:t>
            </a:r>
            <a:br/>
            <a:r>
              <a:t>  single HTML file (3.5 MB)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Zero server dependencies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4937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RPT Page Extractor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3 implementations: Python, JS, C++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Identical CLI interface across all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File info display (sections, pages)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Full extraction or page ranges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Section-based extraction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Binary object extraction (PDF/AFP)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Batch processing mode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Interactive menu launcher scripts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Cross-platform (.bat/.command/.sh)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566160" cy="493776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5661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RPT File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Inverse of Page 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Creates new .RPT files from content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Embed TXT pages with zlib compression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Embed PDF/AFP binary objects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Reconstruct section headers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Build page tables &amp; indexes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Roundtrip verification capability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Use case: re-ingestion into Papyrus</a:t>
            </a:r>
            <a:br/>
            <a:r>
              <a:t>  using IntelliSTOR format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Enables RPT reuse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Strategy Decision: RPT File vs ZIP Archive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486400" cy="4937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486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Option A: Work Directly with RPT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33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Reuse existing IntelliSTOR file format — no conversion needed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Section segregation preserved in SECTIONHDR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TXT + PDF + AFP all in one file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Already built: viewer, extractor, builder tools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Page-level access without full decompression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Proprietary binary format — ongoing maintenance burden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Papyrus needs custom integration for RPT parsing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Tight coupling to IntelliSTOR structures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577840" cy="49377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Option B: Extract &amp; ZIP with Encryption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33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Standard format — any system can consume ZIP archives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AES-256 encryption for security at rest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Clean separation: extract → zip → store on file storage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Year-based folder organization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Simpler for Papyrus to ingest (standard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Section segregation info needs separate metadata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Requires extraction step from RPT (processing time)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Larger storage footprint (separate files vs single RPT)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Migration Phases 5 – 7: Test, Encrypt &amp;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657600" cy="4937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5: Test File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Generate test files per Report Species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Random file type distribution: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10% AFP + TXT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20% PDF + TXT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70% TXT only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Needed to test Phase 6 (ZIP Encrypt)</a:t>
            </a:r>
            <a:br/>
            <a:r>
              <a:t>  while other phases still in development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Batch mode: 5 species per run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Resume capability after interruption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Note: may not be needed now that</a:t>
            </a:r>
            <a:br/>
            <a:r>
              <a:t>  we can read RPT files directly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3474720"/>
            <a:ext cx="320040" cy="27432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280160"/>
            <a:ext cx="3383280" cy="4937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280160"/>
            <a:ext cx="3383280" cy="5029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6: ZIP &amp; Encrypt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AES-256 encrypted ZIP archives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Year-based folder organization:</a:t>
            </a:r>
            <a:br/>
            <a:r>
              <a:t>  {output}/{YEAR}/{filename}.zip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Batch processing with resume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Complete audit trail:</a:t>
            </a:r>
            <a:br/>
            <a:r>
              <a:t>  compress-log.csv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Real-time CSV updates with</a:t>
            </a:r>
            <a:br/>
            <a:r>
              <a:t>  Compressed_Filename column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Delete-after-compress option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Simulate mode for testing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Configurable compression (0-9)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38160" y="3474720"/>
            <a:ext cx="320040" cy="27432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280160"/>
            <a:ext cx="3200400" cy="49377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1280160"/>
            <a:ext cx="320040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325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7: AFP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9659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Analyze AFP resources per namespace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Types: Fonts, Codepages, CharSets,</a:t>
            </a:r>
            <a:br/>
            <a:r>
              <a:t>  FormDefs, PageDefs, PageSegments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Versioned folders per namespace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Binary CRC32 deduplication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Export latest version only</a:t>
            </a:r>
            <a:br/>
            <a:r>
              <a:t>  (proposal to skip older versions)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Older versions would need Papyrus</a:t>
            </a:r>
            <a:br/>
            <a:r>
              <a:t>  software changes (creation date)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New versions auto-created by</a:t>
            </a:r>
            <a:br/>
            <a:r>
              <a:t>  Papyrus during ingestion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.MAP File Investigation — Index &amp; Query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33"/>
                </a:solidFill>
                <a:latin typeface="Calibri"/>
              </a:defRPr>
            </a:pPr>
            <a:r>
              <a:t>What We Know — MAP File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Binary file with MAPHDR signature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Stores indexes like ACCOUNT_NO for quick page lookup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Segment 0 contains lookup table for section navigation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Dual format detection: direct page vs u32 join key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26,724 MAP files in the IntelliSTOR database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Verification tools: verify_map_file.py, batch_verify_maps.py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486400" cy="27432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Still Needs Investigation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Row-level information extraction per page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How index entries map to specific rows within a page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Design for storing query/export index in Papyrus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Proposed DB tables: INSTANCE_SECTION,</a:t>
            </a:r>
            <a:br/>
            <a:r>
              <a:t>  INSTANCE_ACCOUNT_INDEX (replace binary MAP)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Performance implications of database-based vs file-based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51960"/>
            <a:ext cx="11430000" cy="20116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MAP File Role in IntelliSTOR Query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00600"/>
            <a:ext cx="1645920" cy="41148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18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Search by</a:t>
            </a:r>
            <a:br/>
            <a:r>
              <a:t>ACCOUNT_NO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23160" y="4919472"/>
            <a:ext cx="5029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4800600"/>
            <a:ext cx="164592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4818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257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Binary lookup</a:t>
            </a:r>
            <a:br/>
            <a:r>
              <a:t>table in .MAP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09160" y="4919472"/>
            <a:ext cx="5029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0" y="4800600"/>
            <a:ext cx="1645920" cy="4114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818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Page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5257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Returns page</a:t>
            </a:r>
            <a:br/>
            <a:r>
              <a:t>number(s)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995160" y="4919472"/>
            <a:ext cx="5029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4800600"/>
            <a:ext cx="164592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818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RPT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257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Decompress</a:t>
            </a:r>
            <a:br/>
            <a:r>
              <a:t>specific page(s)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281160" y="4919472"/>
            <a:ext cx="5029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20" y="4800600"/>
            <a:ext cx="1645920" cy="4114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4818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5257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Show content</a:t>
            </a:r>
            <a:br/>
            <a:r>
              <a:t>to 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End-to-End Flow: Setup Data Export &amp; Import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760720" cy="4572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EXPORT  (IntelliSTOR MS SQL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645920" cy="59436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828800"/>
            <a:ext cx="15910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 Users &amp;</a:t>
            </a:r>
            <a:br/>
            <a:r>
              <a:t>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Extract_Users_</a:t>
            </a:r>
            <a:br/>
            <a:r>
              <a:t>Permissions.py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28800"/>
            <a:ext cx="164592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828800"/>
            <a:ext cx="15910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 LDAP</a:t>
            </a:r>
            <a:br/>
            <a:r>
              <a:t>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ldap_</a:t>
            </a:r>
            <a:br/>
            <a:r>
              <a:t>integration.py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1645920" cy="5943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828800"/>
            <a:ext cx="15910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 Report Species</a:t>
            </a:r>
            <a:br/>
            <a:r>
              <a:t>&amp; Folders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Extract_Folder_</a:t>
            </a:r>
            <a:br/>
            <a:r>
              <a:t>Species.py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05840" y="2880360"/>
            <a:ext cx="274320" cy="32004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2926080" y="2880360"/>
            <a:ext cx="274320" cy="32004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4846320" y="2880360"/>
            <a:ext cx="274320" cy="32004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3291840"/>
            <a:ext cx="576072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CSV Files: Users.csv, UserGroups.csv, Folder_Hierarchy.csv, Report_Species.csv, Permissions...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557784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07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IMPORT  (Papyrus System)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28800"/>
            <a:ext cx="155448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828800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Create Users</a:t>
            </a:r>
            <a:br/>
            <a:r>
              <a:t>&amp; Groups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155448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1828800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Create Folder</a:t>
            </a:r>
            <a:br/>
            <a:r>
              <a:t>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828800"/>
            <a:ext cx="155448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1828800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Create Report</a:t>
            </a:r>
            <a:br/>
            <a:r>
              <a:t>Species</a:t>
            </a:r>
          </a:p>
        </p:txBody>
      </p:sp>
      <p:sp>
        <p:nvSpPr>
          <p:cNvPr id="28" name="Up Arrow 27"/>
          <p:cNvSpPr/>
          <p:nvPr/>
        </p:nvSpPr>
        <p:spPr>
          <a:xfrm>
            <a:off x="6949440" y="2560320"/>
            <a:ext cx="274320" cy="320040"/>
          </a:xfrm>
          <a:prstGeom prst="up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8778240" y="2560320"/>
            <a:ext cx="274320" cy="320040"/>
          </a:xfrm>
          <a:prstGeom prst="up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Up Arrow 29"/>
          <p:cNvSpPr/>
          <p:nvPr/>
        </p:nvSpPr>
        <p:spPr>
          <a:xfrm>
            <a:off x="10607040" y="2560320"/>
            <a:ext cx="274320" cy="320040"/>
          </a:xfrm>
          <a:prstGeom prst="up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2971800"/>
            <a:ext cx="557784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9992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Papyrus Import Scripts / API consume CSV files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303520" y="3383280"/>
            <a:ext cx="1188720" cy="32004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06240"/>
            <a:ext cx="11612880" cy="4114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245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ARCHIVE INSTANCE FLOW  (Per Report Species, Per Year Range)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00600"/>
            <a:ext cx="1645920" cy="5486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800600"/>
            <a:ext cx="1591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Instances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DB Query +</a:t>
            </a:r>
            <a:br/>
            <a:r>
              <a:t>MAP fallback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4800600"/>
            <a:ext cx="1645920" cy="54864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4872" y="4800600"/>
            <a:ext cx="1591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Read</a:t>
            </a:r>
            <a:br/>
            <a:r>
              <a:t>.RPT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Section &amp;</a:t>
            </a:r>
            <a:br/>
            <a:r>
              <a:t>page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4800600"/>
            <a:ext cx="1645920" cy="5486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6552" y="4800600"/>
            <a:ext cx="1591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TXT + PDF</a:t>
            </a:r>
            <a:br/>
            <a:r>
              <a:t>+ AFP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709160"/>
            <a:ext cx="182880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475488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RPT Reuse</a:t>
            </a:r>
            <a:br/>
            <a:r>
              <a:t>or ZIP?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572000"/>
            <a:ext cx="1645920" cy="4572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1352" y="459028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A: Store .RPT</a:t>
            </a:r>
            <a:br/>
            <a:r>
              <a:t>on SAN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5166360"/>
            <a:ext cx="164592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1352" y="518464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B: ZIP Encrypt</a:t>
            </a:r>
            <a:br/>
            <a:r>
              <a:t>&amp; Store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0" y="4800600"/>
            <a:ext cx="1371600" cy="5943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51592" y="4800600"/>
            <a:ext cx="13167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Papyrus</a:t>
            </a:r>
            <a:br/>
            <a:r>
              <a:t>Import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2011680" y="4956048"/>
            <a:ext cx="3200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4023360" y="4956048"/>
            <a:ext cx="3200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ght Arrow 55"/>
          <p:cNvSpPr/>
          <p:nvPr/>
        </p:nvSpPr>
        <p:spPr>
          <a:xfrm>
            <a:off x="6035040" y="4956048"/>
            <a:ext cx="3200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ight Arrow 56"/>
          <p:cNvSpPr/>
          <p:nvPr/>
        </p:nvSpPr>
        <p:spPr>
          <a:xfrm>
            <a:off x="8275320" y="4736592"/>
            <a:ext cx="182880" cy="1371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ight Arrow 57"/>
          <p:cNvSpPr/>
          <p:nvPr/>
        </p:nvSpPr>
        <p:spPr>
          <a:xfrm>
            <a:off x="8275320" y="5321808"/>
            <a:ext cx="182880" cy="1371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10195560" y="4736592"/>
            <a:ext cx="182880" cy="1371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ight Arrow 59"/>
          <p:cNvSpPr/>
          <p:nvPr/>
        </p:nvSpPr>
        <p:spPr>
          <a:xfrm>
            <a:off x="10195560" y="5321808"/>
            <a:ext cx="182880" cy="1371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Ingestion Flow — IntelliSTOR to Papyrus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How IntelliSTOR ingestion works (and how Papyrus will replicate 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11612880" cy="3657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IntelliSTOR Ingestion Pipeline (Current State)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371600" cy="7315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Spool File</a:t>
            </a:r>
            <a:br/>
            <a:r>
              <a:t>Arrival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64792" y="2331720"/>
            <a:ext cx="4572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2103120"/>
            <a:ext cx="1371600" cy="73152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Signature</a:t>
            </a:r>
            <a:br/>
            <a:r>
              <a:t>Matching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19272" y="2331720"/>
            <a:ext cx="4572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103120"/>
            <a:ext cx="137160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Paginator</a:t>
            </a:r>
            <a:br/>
            <a:r>
              <a:t>Processing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73752" y="2331720"/>
            <a:ext cx="4572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103120"/>
            <a:ext cx="1371600" cy="7315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Section</a:t>
            </a:r>
            <a:br/>
            <a:r>
              <a:t>Segregation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28232" y="2331720"/>
            <a:ext cx="4572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103120"/>
            <a:ext cx="137160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RPT File</a:t>
            </a:r>
            <a:br/>
            <a:r>
              <a:t>Creation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82712" y="2331720"/>
            <a:ext cx="4572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03120"/>
            <a:ext cx="1371600" cy="7315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MAP File</a:t>
            </a:r>
            <a:br/>
            <a:r>
              <a:t>Indexing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37192" y="2331720"/>
            <a:ext cx="4572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2103120"/>
            <a:ext cx="137160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210312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Store in</a:t>
            </a:r>
            <a:br/>
            <a:r>
              <a:t>DB + 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TXT, PDF or</a:t>
            </a:r>
            <a:br/>
            <a:r>
              <a:t>AFP arrives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SIGNATURE_GROUP</a:t>
            </a:r>
            <a:br/>
            <a:r>
              <a:t>routes to species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Job ID tracks</a:t>
            </a:r>
            <a:br/>
            <a:r>
              <a:t>concatenation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Assign pages</a:t>
            </a:r>
            <a:br/>
            <a:r>
              <a:t>to sections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Compress pages</a:t>
            </a:r>
            <a:br/>
            <a:r>
              <a:t>with zlib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Build binary</a:t>
            </a:r>
            <a:br/>
            <a:r>
              <a:t>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REPORT_INSTANCE</a:t>
            </a:r>
            <a:br/>
            <a:r>
              <a:t>+ RPTFILE_INSTANCE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39"/>
            <a:ext cx="11612880" cy="3657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67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Papyrus Ingestion Pipeline (Future State — Next Work Package)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51960"/>
            <a:ext cx="155448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25196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Receive</a:t>
            </a:r>
            <a:br/>
            <a:r>
              <a:t>Archive Files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947672" y="4480560"/>
            <a:ext cx="5486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94560" y="4251960"/>
            <a:ext cx="155448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2848" y="425196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Read Instance</a:t>
            </a:r>
            <a:br/>
            <a:r>
              <a:t>Metadata CSV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776472" y="4480560"/>
            <a:ext cx="5486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3360" y="4251960"/>
            <a:ext cx="155448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1648" y="425196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 from</a:t>
            </a:r>
            <a:br/>
            <a:r>
              <a:t>RPT or ZIP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605272" y="4480560"/>
            <a:ext cx="5486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52160" y="4251960"/>
            <a:ext cx="155448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425196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Map Sections</a:t>
            </a:r>
            <a:br/>
            <a:r>
              <a:t>to Papyrus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434072" y="4480560"/>
            <a:ext cx="5486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80960" y="4251960"/>
            <a:ext cx="155448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9248" y="425196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Import AFP</a:t>
            </a:r>
            <a:br/>
            <a:r>
              <a:t>Resources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262872" y="4480560"/>
            <a:ext cx="54864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509760" y="4251960"/>
            <a:ext cx="155448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28048" y="425196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Store in</a:t>
            </a:r>
            <a:br/>
            <a:r>
              <a:t>Papyrus DMS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212080"/>
            <a:ext cx="11430000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257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Ingestion — Key Considerations for Papyrus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577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Signature pattern matching → Papyrus routing rules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Section segregation → Papyrus access control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5577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MAP file indexes → Database-based index tables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Paginator segments → Needed for audit trail?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AirGap Deployment — OCBC Papyrus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303520" cy="4937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OCBC Papyrus Server — Target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Python scripts packaged for offline deployment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MS SQL Client installed and connected to IntelliSTOR DB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SAN access for .RPT and .MAP file storage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Migration_Environment.bat/.sh configured for OCBC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All dependencies bundled (no internet required)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IRPT Viewer (AirGap HTML) for on-server file inspection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Multi-platform launcher scripts included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Centralized logging and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D62"/>
                </a:solidFill>
                <a:latin typeface="Calibri"/>
              </a:defRPr>
            </a:pPr>
            <a:r>
              <a:t>Connection Requirements: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MS SQL Server (IntelliSTOR DB)  • SAN Storage  • Active Directory (LDAP)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5760720" cy="4937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33"/>
                </a:solidFill>
                <a:latin typeface="Calibri"/>
              </a:defRPr>
            </a:pPr>
            <a:r>
              <a:t>AirGap Package 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D62"/>
                </a:solidFill>
                <a:latin typeface="Calibri"/>
              </a:defRPr>
            </a:pPr>
            <a:r>
              <a:t>Migration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Extract_Users_Permissions.py, Extract_Folder_Species.py,</a:t>
            </a:r>
            <a:br/>
            <a:r>
              <a:t>Extract_Instances.py, batch_zip_encrypt.py, etc.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D62"/>
                </a:solidFill>
                <a:latin typeface="Calibri"/>
              </a:defRPr>
            </a:pPr>
            <a:r>
              <a:t>AFP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Analyze_AFP_Resources.py, AFP_Resource_Exporter.py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D62"/>
                </a:solidFill>
                <a:latin typeface="Calibri"/>
              </a:defRPr>
            </a:pPr>
            <a:r>
              <a:t>RPT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rpt_page_extractor.py, rpt_section_reader.py,</a:t>
            </a:r>
            <a:br/>
            <a:r>
              <a:t>rpt_file_builder.py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D62"/>
                </a:solidFill>
                <a:latin typeface="Calibri"/>
              </a:defRPr>
            </a:pPr>
            <a:r>
              <a:t>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IRPT-Viewer-Airgap.html (3.5 MB, self-contained)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D62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Migration_Environment.bat/.sh,</a:t>
            </a:r>
            <a:br/>
            <a:r>
              <a:t>requirements.txt, test_connection.py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D62"/>
                </a:solidFill>
                <a:latin typeface="Calibri"/>
              </a:defRPr>
            </a:pPr>
            <a:r>
              <a:t>Launchers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.bat (Windows), .command (macOS), .sh (Linux)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Decisions Required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7432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Decisions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RPT reuse or ZIP approach for archive storage?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Migrate Paginator segment tracking to Papyrus?</a:t>
            </a:r>
            <a:br/>
            <a:r>
              <a:t>  (audit trail vs complexity trade-off)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AFP Resources: latest version only or version history?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MAP file index: database tables or file-based?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Test file generation: still needed with RPT access?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48640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075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Complete MAP file row-level extraction investigation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Design query/export index storage for Papyrus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Build Papyrus Ingestion Work Package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Deploy AirGap package to OCBC Papyrus Server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Begin end-to-end testing with real data on OCBC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97680"/>
            <a:ext cx="11430000" cy="20116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D62"/>
                </a:solidFill>
                <a:latin typeface="Calibri"/>
              </a:defRPr>
            </a:pPr>
            <a:r>
              <a:t>Priority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82296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846320"/>
            <a:ext cx="786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46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D62"/>
                </a:solidFill>
                <a:latin typeface="Calibri"/>
              </a:defRPr>
            </a:pPr>
            <a:r>
              <a:t>Deploy AirGap to OCBC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463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Start testing scripts with real environment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82296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166360"/>
            <a:ext cx="786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66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D62"/>
                </a:solidFill>
                <a:latin typeface="Calibri"/>
              </a:defRPr>
            </a:pPr>
            <a:r>
              <a:t>MAP File Investigation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1663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Row-level extraction &amp; index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86400"/>
            <a:ext cx="822960" cy="2560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86400"/>
            <a:ext cx="786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486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D62"/>
                </a:solidFill>
                <a:latin typeface="Calibri"/>
              </a:defRPr>
            </a:pPr>
            <a:r>
              <a:t>RPT vs ZIP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4864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Finalize archive storage strategy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822960" cy="2560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806440"/>
            <a:ext cx="786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D62"/>
                </a:solidFill>
                <a:latin typeface="Calibri"/>
              </a:defRPr>
            </a:pPr>
            <a:r>
              <a:t>Ingestion Work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8064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Build Papyrus import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126480"/>
            <a:ext cx="822960" cy="25603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126480"/>
            <a:ext cx="786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1264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D62"/>
                </a:solidFill>
                <a:latin typeface="Calibri"/>
              </a:defRPr>
            </a:pPr>
            <a:r>
              <a:t>Segment Tracking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612648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Audit trail requirements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IntelliSTOR → Papyrus Migration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0CAF9"/>
                </a:solidFill>
                <a:latin typeface="Calibri"/>
              </a:defRPr>
            </a:pPr>
            <a:r>
              <a:t>IntelliSTOR to Papyrus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0A0"/>
                </a:solidFill>
                <a:latin typeface="Calibri"/>
              </a:defRPr>
            </a:pPr>
            <a:r>
              <a:t>OCBC Bank  •  Document Archive Migration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